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5375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4023360" cy="4023360"/>
          </a:xfrm>
          <a:prstGeom prst="ellipse">
            <a:avLst/>
          </a:prstGeom>
          <a:solidFill>
            <a:srgbClr val="1537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معمّق للغة P4 وتأثيرها على البنية التحتية للخوادم والتطبيقات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B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In-Depth Analysis of the P4 Language and its Impact on Server Infrastructure &amp; Applications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محمد خير الحوراني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إشراف: د. وسيم رمضان   •   العام الدراسي 2025–2026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العرض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الطريق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2084832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صندوقٌ أسود للمطوّر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09960" y="2084832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0996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19385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P4؟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30428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برمجة مستوى البيانات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2907792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3163824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المعالجة والمكوّنات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2907792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109960" y="3163824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996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30175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المنصّات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تُشغَّل البرامج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39867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4242816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09651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العملي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4400" y="446227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جدارٌ ناري وموازِن حمل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3986784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109960" y="4242816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34" name="Text 32"/>
          <p:cNvSpPr/>
          <p:nvPr/>
        </p:nvSpPr>
        <p:spPr>
          <a:xfrm>
            <a:off x="1110996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7960" y="409651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537960" y="446227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يكسب المطوّر الشامل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1520" y="506577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5321808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5321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0" y="517550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الصناعة والتحديات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14400" y="554126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التبنّي والقيود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55080" y="506577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1109960" y="5321808"/>
            <a:ext cx="411480" cy="41148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44" name="Text 42"/>
          <p:cNvSpPr/>
          <p:nvPr/>
        </p:nvSpPr>
        <p:spPr>
          <a:xfrm>
            <a:off x="11109960" y="5321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37960" y="517550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الاستشراف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537960" y="554126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المستقبل والخاتمة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المشكلة: الشبكة صندوقٌ أسود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الدافع من موقع مطوّر البرمجيات الشاملة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20574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المطوّر الشامل يتحكّم بكلّ طبقة:</a:t>
            </a:r>
            <a:endParaRPr lang="en-US" sz="18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البيانات، الخادم، واجهة المستخدم…</a:t>
            </a:r>
            <a:endParaRPr lang="en-US" sz="1800" dirty="0"/>
          </a:p>
          <a:p>
            <a:pPr algn="r" indent="0" marL="0">
              <a:buNone/>
            </a:pPr>
            <a:r>
              <a:rPr lang="en-US" sz="18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إلّا طبقة الشبكة.</a:t>
            </a:r>
            <a:endParaRPr lang="en-US" sz="1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أجهزة الشبكة التقليدية ذات منطقٍ ثابت (ASIC):</a:t>
            </a:r>
            <a:endParaRPr lang="en-US" sz="18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تعريف بروتوكولٍ جديد، ولا تعديل معالجة الحزم بعد التصنيع.</a:t>
            </a:r>
            <a:endParaRPr lang="en-US" sz="1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المنطق الشبكي يُدفَع قسراً إلى الخوادم — فيُهدر المعالج ويزيد زمن الاستجابة.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0F2A4A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77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? ?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AB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صندوقٌ أسود: تعلم بوجوده، ولا تؤثّر في داخله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لغة P4؟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Protocol-independent Packet Processors — 2014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لغةٌ مجالية تُتيح للمطوّر تعريف سلوك مستوى البيانات بالكامل — من تحليل الترويسات إلى قرارات التوجيه — في كودٍ يُصرَّف ويعمل على أجهزةٍ حقيقية أو محاكيات.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57400" y="3017520"/>
            <a:ext cx="777240" cy="777240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استقلالية عن البروتوكول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5720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تفترض اللغة أيّ بروتوكول؛ أنت من يُعرّف Ethernet وIP من الصفر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7432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3017520"/>
            <a:ext cx="777240" cy="77724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استقلالية عن الهدف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45720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البرنامج ذاته يعمل على BMv2 أو FPGA أو شريحة Tofino عبر المصرِّف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72600" y="3017520"/>
            <a:ext cx="777240" cy="777240"/>
          </a:xfrm>
          <a:prstGeom prst="ellipse">
            <a:avLst/>
          </a:prstGeom>
          <a:solidFill>
            <a:srgbClr val="E08D2B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3017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29600" y="3931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إعادة الضبط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75320" y="45720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سلوك الجهاز وهو يعمل عبر واجهة P4Runtime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تعمل: خط المعالجة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V1Model المرجعي لمحاكي BMv2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7" name="Image 0" descr="figs/fi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10515600" cy="2734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029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المُحلِّل </a:t>
            </a:r>
            <a:pPr algn="ctr"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يقرأ الترويسات  •  </a:t>
            </a:r>
            <a:pPr algn="ctr" indent="0" marL="0">
              <a:buNone/>
            </a:pPr>
            <a:r>
              <a:rPr lang="en-US" sz="16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والإجراء </a:t>
            </a:r>
            <a:pPr algn="ctr"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تتّخذ القرار  •  </a:t>
            </a:r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المُعيد </a:t>
            </a:r>
            <a:pPr algn="ctr"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يُعيد كتابة الحزمة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المكوّنات الجوهرية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المُحلِّل + جداول المطابقة والإجراء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8288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205740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المُحلِّل (Parser): </a:t>
            </a:r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آلة حالاتٍ تقرأ الترويسات وتختار المسار حسب نوع الحزمة.</a:t>
            </a:r>
            <a:endParaRPr lang="en-US" sz="14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والإجراء: </a:t>
            </a:r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يفصل بين هيكل الجدول (في الكود) ومحتواه (يملؤه التحكّم وقت التشغيل).</a:t>
            </a:r>
            <a:endParaRPr lang="en-US" sz="14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المطابقة: </a:t>
            </a:r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دقيقة (Exact)، أطول بادئة (LPM)، وثلاثية (Ternary) للأنماط المرنة.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0E223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488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acl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= { srcAddr: ternary;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proto  : exact;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dstPort: exact;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actions = { drop; NoAction;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acl.apply();      // امنع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F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ipv4_lpm.apply(); // وجّه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المنصّات المستهدفة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الكود… أهدافٌ متعدّدة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118872" cy="1874520"/>
          </a:xfrm>
          <a:prstGeom prst="rect">
            <a:avLst/>
          </a:prstGeom>
          <a:solidFill>
            <a:srgbClr val="0E9C8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BMv2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25420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محاكٍ برمجي — مجاني، للتعلّم والاختبار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الكلفة: مجاني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118872" cy="187452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/ XDP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29400" y="25420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خادم Linux دون عتادٍ خاص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الكلفة: منخفضة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886200"/>
            <a:ext cx="118872" cy="1874520"/>
          </a:xfrm>
          <a:prstGeom prst="rect">
            <a:avLst/>
          </a:prstGeom>
          <a:solidFill>
            <a:srgbClr val="E08D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SmartNIC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05840" y="45994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تفريغ مهام الخوادم في مراكز البيانات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الكلفة: متوسطة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886200"/>
            <a:ext cx="118872" cy="18745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/ Tofino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629400" y="45994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سرعة الأسلاك حتى التيرابت/ث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الكلفة: مرتفعة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العملي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846320" y="32918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نموذجان حقيقيّان بلغة P4₁₆ على نموذج المعالجة V1Model، سِيقت إليهما حزمٌ حقيقية وقُيِست نتائجهما فعلياً.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2926080" cy="2926080"/>
          </a:xfrm>
          <a:prstGeom prst="ellipse">
            <a:avLst/>
          </a:prstGeom>
          <a:solidFill>
            <a:srgbClr val="1537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846320" y="45720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جدارٌ ناري عديم الحالة  (ACL)</a:t>
            </a:r>
            <a:endParaRPr lang="en-US" sz="1800" dirty="0"/>
          </a:p>
          <a:p>
            <a:pPr algn="r" indent="0" marL="0">
              <a:buNone/>
            </a:pPr>
            <a:r>
              <a:rPr lang="en-US" sz="18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موازِن حملٍ من المستوى الرابع  (L4 LB)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التجربة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مولّد حركة ← خط P4 ← قرار/خوادم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7" name="Image 0" descr="figs/fig_to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20240"/>
            <a:ext cx="9601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1: الجدار الناري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منعٍ على المصدر/البروتوكول/المنفذ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7" name="Image 0" descr="figs/fig_f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49377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0574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مطابقةٌ ثلاثية (Ternary) لنطاقات العناوين، فيُسقَط ما يُطابق ويُمرَّر سواه.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الحمل: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حزمة بنسبة منعٍ 30%.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دقّة تصنيفٍ 100% — أُسقطت كلّ حزم المنع ومُرّر الباقي بلا خطأ.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9834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3152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دقّة التصنيف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2: موازِن الحمل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تجزئة الخماسية ← اختيار خادمٍ ثابت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pic>
        <p:nvPicPr>
          <p:cNvPr id="7" name="Image 0" descr="figs/fig_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12064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82880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0574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تجزئةٌ ثابتة للـ 5-tuple تُبقي كلّ اتصالٍ على خادمٍ واحد وتوزّع التدفّقات بالتساوي.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الحمل: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 حزمة عبر 2,500 تدفّق.</a:t>
            </a:r>
            <a:endParaRPr lang="en-US" sz="15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r" indent="0" marL="0">
              <a:buNone/>
            </a:pPr>
            <a:r>
              <a:rPr lang="en-US" sz="15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</a:t>
            </a:r>
            <a:pPr algn="r" indent="0" marL="0">
              <a:buNone/>
            </a:pPr>
            <a:r>
              <a:rPr lang="en-US" sz="15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اتّساق اتصالٍ 100%، وتوزيعٌ يقترب من 25% لكلّ خادم (انحراف 0.22% عند 300 ألف حزمة).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العرض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5375E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574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05840" y="30632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دقّة تصنيف الجدار الناري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5375E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05740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537960" y="30632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اتّساق اتصال الموازِن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5375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2976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أقصى انحرافٍ عن التوزيع المثالي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40690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15375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42976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3.0M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537960" y="53035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قرار/ثانية على نواةٍ واحدة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نستفيد؟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 لمطوّر البرمجيات الشاملة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49240" y="24688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تفريغ المهام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موازنة الحمل والفلترة والتخزين المؤقت داخل الشبكة — تحرير 30–60% من المعالج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0" y="2468880"/>
            <a:ext cx="566928" cy="566928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قياسٌ بلا أعباء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مسار الشبكة بدقّة الحزمة عبر INT دون حركةٍ إضافية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9240" y="4526280"/>
            <a:ext cx="566928" cy="566928"/>
          </a:xfrm>
          <a:prstGeom prst="ellipse">
            <a:avLst/>
          </a:prstGeom>
          <a:solidFill>
            <a:srgbClr val="E08D2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4526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أمنٌ بسرعة السلك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60120" y="4572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حجبٌ وتخفيف DDoS وفلترةٌ تُتّخذ في الأجهزة لا الخوادم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972800" y="4526280"/>
            <a:ext cx="566928" cy="56692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0" y="4526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مرونة البروتوكولات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83680" y="4572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ترويساتٍ وبروتوكولاتٍ جديدة دون انتظار أيّ مصنِّع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التبنّي الصناعي والتحديات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ليست تقنيةً مخبرية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8288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8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205740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تبنٍّ على نطاقٍ واسع: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— تسريع الشبكة عبر FPGA SmartNICs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وGoogle — تفريغ مهام مراكز البيانات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— تحسين الشبكة السحابية الداخلية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BF1E6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05740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8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التحديات: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صعوبة التنقيح (Debugging)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الارتباط بالبائعين (Vendor lock-in)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تعقيد الأنظمة وقيود الموارد</a:t>
            </a:r>
            <a:endParaRPr lang="en-US" sz="17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نضج المنظومة لا يزال متنامياً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42062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قيودٌ على وتيرة التبنّي لا على جدواه — تخفّفها بيئة BMv2 المجانية.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11480"/>
            <a:ext cx="566928" cy="566928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3" name="Text 1"/>
          <p:cNvSpPr/>
          <p:nvPr/>
        </p:nvSpPr>
        <p:spPr>
          <a:xfrm>
            <a:off x="1115568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0" y="384048"/>
            <a:ext cx="8092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الاستشراف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987552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الشبكة كطبقة حوسبةٍ نشطة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0"/>
          </a:xfrm>
          <a:prstGeom prst="line">
            <a:avLst/>
          </a:prstGeom>
          <a:noFill/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0" y="2331720"/>
            <a:ext cx="685800" cy="685800"/>
          </a:xfrm>
          <a:prstGeom prst="ellipse">
            <a:avLst/>
          </a:prstGeom>
          <a:solidFill>
            <a:srgbClr val="0E9C8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الشبكة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استدلالٌ خفيف ورصد شذوذاتٍ في الزمن الحقيقي داخل مستوى البيانات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331720"/>
            <a:ext cx="685800" cy="685800"/>
          </a:xfrm>
          <a:prstGeom prst="ellipse">
            <a:avLst/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شبكات الجيل السادس 6G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استجابةٍ صارم وتشكيل مساراتٍ عند الحافة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6F9FC"/>
          </a:solidFill>
          <a:ln/>
          <a:effectLst>
            <a:outerShdw sx="100000" sy="100000" kx="0" ky="0" algn="bl" rotWithShape="0" blurRad="88900" dist="25400" dir="8100000">
              <a:srgbClr val="0F2A4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18320" y="2331720"/>
            <a:ext cx="685800" cy="685800"/>
          </a:xfrm>
          <a:prstGeom prst="ellipse">
            <a:avLst/>
          </a:prstGeom>
          <a:solidFill>
            <a:srgbClr val="E08D2B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2331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29600" y="31546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الحوسبة داخل الشبكة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3886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نتائج التعلّم الموزّع داخل المحوِّلات (Serverless)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1537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E9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463040" y="228600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تعد الشبكة حدّاً ثابتاً في الرسم المعماري، بل سطحٌ برمجيٌّ يتشكّل بإرادة المطوّر — وقدرةُ برمجته باتت كفاءةً تنافسية في هندسة الأنظمة الموزّعة الحديثة.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40233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AB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ليست أداةً شبكية منعزلة، بل امتدادٌ طبيعي لمنظومة أدوات مطوّر البرمجيات الشاملة.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لإصغائكم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8FA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خير الحوراني  •  إشراف د. وسيم رمضان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معمّق للغة P4</dc:title>
  <dc:subject>PptxGenJS Presentation</dc:subject>
  <dc:creator>محمد خير الحوراني</dc:creator>
  <cp:lastModifiedBy>محمد خير الحوراني</cp:lastModifiedBy>
  <cp:revision>1</cp:revision>
  <dcterms:created xsi:type="dcterms:W3CDTF">2026-06-18T15:24:12Z</dcterms:created>
  <dcterms:modified xsi:type="dcterms:W3CDTF">2026-06-18T15:24:12Z</dcterms:modified>
</cp:coreProperties>
</file>